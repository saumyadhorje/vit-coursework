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3"/>
  </p:notesMasterIdLst>
  <p:sldIdLst>
    <p:sldId id="268" r:id="rId2"/>
    <p:sldId id="280" r:id="rId3"/>
    <p:sldId id="257" r:id="rId4"/>
    <p:sldId id="282" r:id="rId5"/>
    <p:sldId id="287" r:id="rId6"/>
    <p:sldId id="290" r:id="rId7"/>
    <p:sldId id="289" r:id="rId8"/>
    <p:sldId id="291" r:id="rId9"/>
    <p:sldId id="261" r:id="rId10"/>
    <p:sldId id="292" r:id="rId11"/>
    <p:sldId id="263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2" autoAdjust="0"/>
    <p:restoredTop sz="96081" autoAdjust="0"/>
  </p:normalViewPr>
  <p:slideViewPr>
    <p:cSldViewPr snapToGrid="0" showGuides="1">
      <p:cViewPr varScale="1">
        <p:scale>
          <a:sx n="77" d="100"/>
          <a:sy n="77" d="100"/>
        </p:scale>
        <p:origin x="828" y="60"/>
      </p:cViewPr>
      <p:guideLst>
        <p:guide orient="horz" pos="214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23066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“When we looked at existing research, we found that most work depends on large models or focuses on just one technique at a time.</a:t>
            </a: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Very little research explores </a:t>
            </a:r>
            <a:r>
              <a:rPr lang="en-IN" sz="1200" b="1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small-model pipelines</a:t>
            </a:r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even though they are more practical for real-world deployment.</a:t>
            </a: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 structured JSON extraction from varied resumes — especially medical resumes — is still an underexplored area.</a:t>
            </a: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 the key gap we address is this:</a:t>
            </a:r>
          </a:p>
          <a:p>
            <a:r>
              <a:rPr lang="en-IN" sz="1200" b="1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can we achieve accurate, consistent, and valid JSON extraction using a small, domain-specific language model across highly varied resume formats?</a:t>
            </a:r>
            <a:endParaRPr lang="en-IN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Our project attempts to fill exactly this gap.”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57180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Resumes come in all kinds of formats — neat, messy, creative, or completely unstructured. A recruiter still needs to extract the same key details: name, email, skills, and experience. Our goal is to build a model that acts like a smart recruiter and converts any resume into a clean JSON format.</a:t>
            </a: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Instead of relying on a massive LLM, we trained a </a:t>
            </a:r>
            <a:r>
              <a:rPr lang="en-IN" sz="1200" b="1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Small Language Model (SLM)</a:t>
            </a:r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specifically for this extraction task. SLMs are faster, cheaper, and much easier to deploy while still achieving high accuracy on domain-focused tasks when trained properly.</a:t>
            </a: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understand this fully, we evaluated six techniques — Few-shot Prompting, </a:t>
            </a:r>
            <a:r>
              <a:rPr lang="en-IN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LoRA</a:t>
            </a:r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Fine-tuning, Curriculum Learning, Constraint Decoding, Synthetic Augmentation, and our proposed Hybrid ERR method — on both general and medical resumes.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problem we identified is that resumes are highly unstructured, and extracting clean, consistent JSON information is very difficult for small language </a:t>
            </a:r>
            <a:r>
              <a:rPr lang="en-US" dirty="0" err="1"/>
              <a:t>models.They</a:t>
            </a:r>
            <a:r>
              <a:rPr lang="en-US" dirty="0"/>
              <a:t> struggle with:	</a:t>
            </a:r>
          </a:p>
          <a:p>
            <a:pPr>
              <a:buAutoNum type="arabicPeriod"/>
            </a:pPr>
            <a:r>
              <a:rPr lang="en-US" dirty="0"/>
              <a:t>Inconsistent formatting – sometimes skills come before experience, sometimes after.	</a:t>
            </a:r>
          </a:p>
          <a:p>
            <a:pPr>
              <a:buAutoNum type="arabicPeriod"/>
            </a:pPr>
            <a:r>
              <a:rPr lang="en-US" dirty="0"/>
              <a:t>2.	Broken JSON outputs – brackets missing, quotes missing, structure incorrect.	</a:t>
            </a:r>
          </a:p>
          <a:p>
            <a:pPr>
              <a:buAutoNum type="arabicPeriod"/>
            </a:pPr>
            <a:r>
              <a:rPr lang="en-US" dirty="0"/>
              <a:t>3.	Domain-specific resumes – especially medical resumes with technical terms.	</a:t>
            </a:r>
          </a:p>
          <a:p>
            <a:pPr>
              <a:buAutoNum type="arabicPeriod"/>
            </a:pPr>
            <a:r>
              <a:rPr lang="en-US" dirty="0"/>
              <a:t>4.	Few-shot prompting inconsistency – outputs change every time, not reliable.	</a:t>
            </a:r>
          </a:p>
          <a:p>
            <a:pPr>
              <a:buAutoNum type="arabicPeriod"/>
            </a:pPr>
            <a:r>
              <a:rPr lang="en-US" dirty="0"/>
              <a:t>5.	Lack of a model that works well on CPU with low </a:t>
            </a:r>
            <a:r>
              <a:rPr lang="en-US" dirty="0" err="1"/>
              <a:t>resources.So</a:t>
            </a:r>
            <a:r>
              <a:rPr lang="en-US" dirty="0"/>
              <a:t> the main challenge becomes:👉 How do we convert messy, unstructured resume text into accurate structured JSON using a small model, without relying on expensive large language </a:t>
            </a:r>
            <a:r>
              <a:rPr lang="en-US" dirty="0" err="1"/>
              <a:t>models?This</a:t>
            </a:r>
            <a:r>
              <a:rPr lang="en-US" dirty="0"/>
              <a:t> challenge motivated our entire study.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66742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Few-Shot Prompting -  this works on the prompting</a:t>
            </a:r>
          </a:p>
          <a:p>
            <a:r>
              <a:rPr lang="en-US" dirty="0" err="1"/>
              <a:t>LoRA</a:t>
            </a:r>
            <a:r>
              <a:rPr lang="en-US" dirty="0"/>
              <a:t> - it trains small extra layers of model </a:t>
            </a:r>
          </a:p>
          <a:p>
            <a:r>
              <a:rPr lang="en-US" dirty="0"/>
              <a:t>Curriculum Learning - in this we increase difficulty level gradually</a:t>
            </a:r>
          </a:p>
          <a:p>
            <a:r>
              <a:rPr lang="en-US" dirty="0"/>
              <a:t>Constraints-Based Decoding - in this we give constraints to output</a:t>
            </a:r>
          </a:p>
          <a:p>
            <a:r>
              <a:rPr lang="en-US" dirty="0"/>
              <a:t>Synthetic Data Augmentation - in this we provide extra training data Last one is Hybrid-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9162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This project compared five techniques—Few-shot prompting, </a:t>
            </a:r>
            <a:r>
              <a:rPr lang="en-US" dirty="0" err="1"/>
              <a:t>LoRA</a:t>
            </a:r>
            <a:r>
              <a:rPr lang="en-US" dirty="0"/>
              <a:t> fine-tuning, Curriculum Learning, Constraint-based Decoding, and Synthetic Data Augmentation—using accuracy and </a:t>
            </a:r>
            <a:r>
              <a:rPr lang="en-US" dirty="0" err="1"/>
              <a:t>Levenshtein</a:t>
            </a:r>
            <a:r>
              <a:rPr lang="en-US" dirty="0"/>
              <a:t> distance on both general and medical resume datasets. Results showed that each method performs differently depending on data complexity and domain. We then proposed a Hybrid approach that combines candidate generation, JSON repair, schema normalization, and signal-guided reranking. Although not always the top performer, the Hybrid method improves reliability and consistency, especially for noisy or domain-specific resumes. Overall, this study highlights key trade-offs across methods and demonstrates how a multi-step pipeline can enhance resume parsing robustness.</a:t>
            </a:r>
            <a:endParaRPr dirty="0"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582" y="330919"/>
            <a:ext cx="827042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MFAI PROJECT_PPT</a:t>
            </a:r>
            <a:br>
              <a:rPr lang="en-US" sz="1600" b="1" dirty="0">
                <a:solidFill>
                  <a:schemeClr val="accent3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600" b="1" dirty="0">
                <a:solidFill>
                  <a:schemeClr val="accent3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FOR MID SEMESTER ASSESSMENT- MARCH-26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007" y="2313102"/>
            <a:ext cx="8732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Div:- </a:t>
            </a:r>
            <a:r>
              <a:rPr lang="en-US" sz="1600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AIDS</a:t>
            </a:r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 </a:t>
            </a:r>
            <a:r>
              <a:rPr lang="en-US" sz="1600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B              </a:t>
            </a:r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EDAI_GROUP No:- </a:t>
            </a:r>
            <a:r>
              <a:rPr lang="en-US" sz="1600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07                </a:t>
            </a:r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Day:- Monday</a:t>
            </a:r>
            <a:r>
              <a:rPr lang="en-US" sz="1600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            </a:t>
            </a:r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 Date:- </a:t>
            </a:r>
            <a:r>
              <a:rPr lang="en-US" sz="1600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27/04/2026</a:t>
            </a:r>
          </a:p>
          <a:p>
            <a:pPr algn="ctr"/>
            <a:endParaRPr lang="en-US" sz="1600" dirty="0">
              <a:latin typeface="Times New Roman" panose="02020603050405020304" charset="0"/>
              <a:ea typeface="Open Sans" panose="020B06060305040202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406027"/>
            <a:ext cx="77724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DEPARTMENT OF ARTIFICIAL INTELLIGENCE AND DATA SCIENCE (AIDS)</a:t>
            </a:r>
          </a:p>
          <a:p>
            <a:pPr algn="ctr"/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VISHWAKARMA INSTITUTE OF TECHNOLOGY, PUNE</a:t>
            </a:r>
          </a:p>
          <a:p>
            <a:pPr algn="ctr"/>
            <a:endParaRPr lang="en-US" sz="1600" b="1" dirty="0">
              <a:latin typeface="Times New Roman" panose="02020603050405020304" charset="0"/>
              <a:ea typeface="Open Sans" panose="020B0606030504020204" charset="0"/>
              <a:cs typeface="Times New Roman" panose="0202060305040502030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71257" y="1086857"/>
            <a:ext cx="7486943" cy="937158"/>
            <a:chOff x="1275241" y="974015"/>
            <a:chExt cx="6478184" cy="336353"/>
          </a:xfrm>
        </p:grpSpPr>
        <p:sp>
          <p:nvSpPr>
            <p:cNvPr id="3" name="TextBox 2"/>
            <p:cNvSpPr txBox="1"/>
            <p:nvPr/>
          </p:nvSpPr>
          <p:spPr>
            <a:xfrm>
              <a:off x="1275241" y="995620"/>
              <a:ext cx="6478184" cy="278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sz="1800" b="1" dirty="0">
                  <a:latin typeface="Times New Roman" panose="02020603050405020304" charset="0"/>
                  <a:ea typeface="Open Sans" panose="020B0606030504020204" charset="0"/>
                  <a:cs typeface="Times New Roman" panose="02020603050405020304" charset="0"/>
                </a:rPr>
                <a:t>Computer Network</a:t>
              </a:r>
            </a:p>
            <a:p>
              <a:pPr algn="ctr">
                <a:lnSpc>
                  <a:spcPct val="130000"/>
                </a:lnSpc>
              </a:pPr>
              <a:r>
                <a:rPr lang="en-US" sz="1800" b="1" dirty="0">
                  <a:latin typeface="Times New Roman" panose="02020603050405020304" charset="0"/>
                  <a:ea typeface="Open Sans" panose="020B0606030504020204" charset="0"/>
                  <a:cs typeface="Times New Roman" panose="02020603050405020304" charset="0"/>
                </a:rPr>
                <a:t>PROJECT_TITLE:-Real-Time Early Network Traffic Classification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506311" y="974015"/>
              <a:ext cx="5984421" cy="3363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endParaRPr lang="en-IN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059271" y="3163279"/>
            <a:ext cx="3094264" cy="1868915"/>
            <a:chOff x="1220561" y="2147914"/>
            <a:chExt cx="3094264" cy="1868915"/>
          </a:xfrm>
        </p:grpSpPr>
        <p:sp>
          <p:nvSpPr>
            <p:cNvPr id="5" name="TextBox 4"/>
            <p:cNvSpPr txBox="1"/>
            <p:nvPr/>
          </p:nvSpPr>
          <p:spPr>
            <a:xfrm>
              <a:off x="1273628" y="2151375"/>
              <a:ext cx="3041197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b="1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Presented By :</a:t>
              </a:r>
            </a:p>
            <a:p>
              <a:pPr algn="l"/>
              <a:endParaRPr lang="en-US" dirty="0"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l"/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1) Shourya Desai (12411254)</a:t>
              </a:r>
            </a:p>
            <a:p>
              <a:pPr algn="l"/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2) Vardhan </a:t>
              </a:r>
              <a:r>
                <a:rPr lang="en-US" dirty="0" err="1">
                  <a:latin typeface="+mj-lt"/>
                  <a:ea typeface="Open Sans" panose="020B0606030504020204" charset="0"/>
                  <a:cs typeface="Open Sans" panose="020B0606030504020204" charset="0"/>
                </a:rPr>
                <a:t>Dhavale</a:t>
              </a:r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 (12413236)</a:t>
              </a:r>
            </a:p>
            <a:p>
              <a:pPr algn="l"/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3) Payal Dhaygude (12414479)</a:t>
              </a:r>
            </a:p>
            <a:p>
              <a:pPr algn="l"/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4) Saumya </a:t>
              </a:r>
              <a:r>
                <a:rPr lang="en-US" dirty="0" err="1">
                  <a:latin typeface="+mj-lt"/>
                  <a:ea typeface="Open Sans" panose="020B0606030504020204" charset="0"/>
                  <a:cs typeface="Open Sans" panose="020B0606030504020204" charset="0"/>
                </a:rPr>
                <a:t>Dhorje</a:t>
              </a:r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 (12413161)</a:t>
              </a:r>
            </a:p>
            <a:p>
              <a:pPr algn="l"/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5) Ananya Gaikwad (12414493)</a:t>
              </a:r>
            </a:p>
            <a:p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20561" y="2147914"/>
              <a:ext cx="2902403" cy="18689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237702" y="3429000"/>
            <a:ext cx="2306097" cy="1080772"/>
            <a:chOff x="5176157" y="2147914"/>
            <a:chExt cx="1983922" cy="778982"/>
          </a:xfrm>
        </p:grpSpPr>
        <p:sp>
          <p:nvSpPr>
            <p:cNvPr id="6" name="TextBox 5"/>
            <p:cNvSpPr txBox="1"/>
            <p:nvPr/>
          </p:nvSpPr>
          <p:spPr>
            <a:xfrm>
              <a:off x="5188402" y="2147914"/>
              <a:ext cx="1971677" cy="532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Project Guide :</a:t>
              </a:r>
            </a:p>
            <a:p>
              <a:endParaRPr lang="en-US" dirty="0"/>
            </a:p>
            <a:p>
              <a:r>
                <a:rPr lang="en-US" dirty="0">
                  <a:latin typeface="Times New Roman" panose="02020603050405020304" charset="0"/>
                  <a:ea typeface="Open Sans" panose="020B0606030504020204" charset="0"/>
                  <a:cs typeface="Times New Roman" panose="02020603050405020304" charset="0"/>
                </a:rPr>
                <a:t>Prof. Minal Barhate </a:t>
              </a:r>
              <a:endParaRPr lang="en-US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76157" y="2147914"/>
              <a:ext cx="1983922" cy="7789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01" name="Google Shape;101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0480" y="45720"/>
            <a:ext cx="940777" cy="931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5FA7-D1F2-7FE4-801E-1491E322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6641"/>
            <a:ext cx="8229600" cy="1143000"/>
          </a:xfrm>
        </p:spPr>
        <p:txBody>
          <a:bodyPr>
            <a:normAutofit/>
          </a:bodyPr>
          <a:lstStyle/>
          <a:p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Google Shape;101;p2">
            <a:extLst>
              <a:ext uri="{FF2B5EF4-FFF2-40B4-BE49-F238E27FC236}">
                <a16:creationId xmlns:a16="http://schemas.microsoft.com/office/drawing/2014/main" id="{F890C8C5-B842-29ED-2C8F-5771BCF094A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9FB7CE3-AF11-7885-D6E8-DD2AF3E59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123C10-E314-971D-B2E4-937163EA0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62" y="1338626"/>
            <a:ext cx="7888778" cy="5380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Latency Gap: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exploit systems within seconds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IDS require longer analysis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leads to increased vulnerability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Flow Dependency Issue: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depends on complete traffic flows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Early-stage signals are ignored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late identification of threats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Deficit: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ability to process live traffic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rely on offline 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continuous monitoring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Illusion: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in controlled environments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performance in real-world scenarios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 in training data affects results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21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977" y="76200"/>
            <a:ext cx="7578969" cy="1143000"/>
          </a:xfrm>
        </p:spPr>
        <p:txBody>
          <a:bodyPr>
            <a:normAutofit/>
          </a:bodyPr>
          <a:lstStyle/>
          <a:p>
            <a:pPr algn="ctr"/>
            <a:r>
              <a:rPr lang="en-US" altLang="en-GB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874EEEE-DF3C-7B6B-FEB6-D55A08AC0A4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6588" y="1298387"/>
            <a:ext cx="8222853" cy="542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First-Packet Signal: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packets often contain anomalies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deviations indicate suspicious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faster classification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Advantage: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detection latency significantly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quicker decision-making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damage window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Prevention Opportunity: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intervention before escalation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resilience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proactive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strategies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Monitoring Gap: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tracking is essential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systems reduce blind spots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visibility into network activity</a:t>
            </a:r>
          </a:p>
          <a:p>
            <a:pPr marL="285750" indent="-28575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F1FEB-45F7-2E7A-5539-8ED4F9127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6F3C-668F-0407-F0AB-E891EDA4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12" y="539747"/>
            <a:ext cx="8229600" cy="1143000"/>
          </a:xfrm>
        </p:spPr>
        <p:txBody>
          <a:bodyPr>
            <a:normAutofit/>
          </a:bodyPr>
          <a:lstStyle/>
          <a:p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101;p2">
            <a:extLst>
              <a:ext uri="{FF2B5EF4-FFF2-40B4-BE49-F238E27FC236}">
                <a16:creationId xmlns:a16="http://schemas.microsoft.com/office/drawing/2014/main" id="{16639636-F92D-44DC-A9DC-CCE39B41405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492E235-E2DC-0602-401B-DBBB13EB3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081" y="1592983"/>
            <a:ext cx="8413838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malicious traffic in initial stages and reduce dependency on full traffic data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packets continuously  and provide instant feedback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Detection: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lightweight features for speed  and maintain balance between speed and accuracy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in understandable format and enable quick interpretation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Design: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Adaptable to larger networks  and extendable for future improvements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57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;p2">
            <a:extLst>
              <a:ext uri="{FF2B5EF4-FFF2-40B4-BE49-F238E27FC236}">
                <a16:creationId xmlns:a16="http://schemas.microsoft.com/office/drawing/2014/main" id="{3D9E0DDD-244A-B4C7-F9AC-C0AE6484FDF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C5C7BA-CF87-FBE0-4A42-70DBA35174C2}"/>
              </a:ext>
            </a:extLst>
          </p:cNvPr>
          <p:cNvSpPr txBox="1"/>
          <p:nvPr/>
        </p:nvSpPr>
        <p:spPr>
          <a:xfrm>
            <a:off x="1920056" y="608074"/>
            <a:ext cx="505717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3A5F6C-A56F-B115-DB6F-C7355A2F06F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9557" y="1851675"/>
            <a:ext cx="8944443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CIC-IDS-2017, globally recognized as the gold standard for modern attack patterns.</a:t>
            </a:r>
          </a:p>
          <a:p>
            <a:pPr marL="285750" indent="-28575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Balancing: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Synthetic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the model doesn't just "guess Benign" to get a high score.</a:t>
            </a:r>
          </a:p>
          <a:p>
            <a:pPr marL="285750" indent="-28575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Sniffing Loop: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multi-threaded Python architecture—one thread for sniffing, one for the Flask web server.</a:t>
            </a:r>
          </a:p>
          <a:p>
            <a:pPr marL="285750" indent="-28575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Transformation: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raw packet bytes into mathematical rates (Packets per Second, Bytes per Second).</a:t>
            </a:r>
          </a:p>
        </p:txBody>
      </p:sp>
    </p:spTree>
    <p:extLst>
      <p:ext uri="{BB962C8B-B14F-4D97-AF65-F5344CB8AC3E}">
        <p14:creationId xmlns:p14="http://schemas.microsoft.com/office/powerpoint/2010/main" val="3715248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F19D6-0C86-9721-6203-C221C14AD3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pic>
        <p:nvPicPr>
          <p:cNvPr id="5" name="Google Shape;101;p2">
            <a:extLst>
              <a:ext uri="{FF2B5EF4-FFF2-40B4-BE49-F238E27FC236}">
                <a16:creationId xmlns:a16="http://schemas.microsoft.com/office/drawing/2014/main" id="{9702FD16-C345-2FC5-DEEF-18738467124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2768D4-D7DE-2CAD-2C22-7792351A45D4}"/>
              </a:ext>
            </a:extLst>
          </p:cNvPr>
          <p:cNvSpPr txBox="1"/>
          <p:nvPr/>
        </p:nvSpPr>
        <p:spPr>
          <a:xfrm>
            <a:off x="2598543" y="429658"/>
            <a:ext cx="39469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B1EC5-C03A-2E63-15B8-8A55FCAD8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6848"/>
            <a:ext cx="9144000" cy="565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2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C30C-C59C-AC92-10A2-8B6B0E7B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1B9A9-70EE-A6EC-7726-31C5384C00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87308" y="640910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pic>
        <p:nvPicPr>
          <p:cNvPr id="5" name="Google Shape;101;p2">
            <a:extLst>
              <a:ext uri="{FF2B5EF4-FFF2-40B4-BE49-F238E27FC236}">
                <a16:creationId xmlns:a16="http://schemas.microsoft.com/office/drawing/2014/main" id="{72967CB9-1972-BA81-A0D8-DC364DAC230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767862" cy="74937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330570" y="309372"/>
            <a:ext cx="7813430" cy="66560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altLang="en-GB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9CC51F-D5D1-BC9A-D052-4A3A3FDF7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15" y="1794673"/>
            <a:ext cx="7606145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core logic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Analysis: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Scapy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sniffing </a:t>
            </a:r>
          </a:p>
          <a:p>
            <a:pPr>
              <a:lnSpc>
                <a:spcPct val="15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API and communication </a:t>
            </a:r>
          </a:p>
          <a:p>
            <a:pPr>
              <a:lnSpc>
                <a:spcPct val="15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live graphs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Learning: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trained on traffic dataset </a:t>
            </a:r>
          </a:p>
          <a:p>
            <a:pPr>
              <a:lnSpc>
                <a:spcPct val="15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Concurrency: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parallel execution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7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A4283-5BE0-ECF5-07FC-34F98551AA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04/12/2025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8D9DF-C8E9-9745-7D09-B1FB2B0508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Name of Project(EDAI)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9D723-2149-BF60-EF3D-7F8E0C3639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78AE4-8B14-702E-58EF-72177EF44785}"/>
              </a:ext>
            </a:extLst>
          </p:cNvPr>
          <p:cNvSpPr txBox="1"/>
          <p:nvPr/>
        </p:nvSpPr>
        <p:spPr>
          <a:xfrm>
            <a:off x="349134" y="877927"/>
            <a:ext cx="839585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Innovation 1: Early-Stage Traffic Identification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Problem:</a:t>
            </a:r>
            <a:r>
              <a:rPr lang="en-US" dirty="0"/>
              <a:t> Traditional systems wait for a "Flow" to complete (hundreds of packets) before classifying a threat, causing a "detection lag."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Our Solution:</a:t>
            </a:r>
            <a:r>
              <a:rPr lang="en-US" dirty="0"/>
              <a:t> We implemented </a:t>
            </a:r>
            <a:r>
              <a:rPr lang="en-US" b="1" dirty="0"/>
              <a:t>Probabilistic Early-Classification</a:t>
            </a:r>
            <a:r>
              <a:rPr lang="en-US" dirty="0"/>
              <a:t>. The system analyzes the first </a:t>
            </a:r>
            <a:r>
              <a:rPr lang="en-US" b="1" dirty="0"/>
              <a:t>3–5 packets</a:t>
            </a:r>
            <a:r>
              <a:rPr lang="en-US" dirty="0"/>
              <a:t> of a connection to identify a threat in milliseconds.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Feature:</a:t>
            </a:r>
            <a:r>
              <a:rPr lang="en-US" dirty="0"/>
              <a:t> </a:t>
            </a:r>
            <a:r>
              <a:rPr lang="en-US" b="1" dirty="0"/>
              <a:t>Adaptive Confidence Thresholding</a:t>
            </a:r>
            <a:r>
              <a:rPr lang="en-US" dirty="0"/>
              <a:t>—The system requires higher confidence (95%) for fewer packets and relaxes the threshold (85%) as more evidence is gathered.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Innovation 2: Explainable Behavioral Fingerprints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Problem:</a:t>
            </a:r>
            <a:r>
              <a:rPr lang="en-US" dirty="0"/>
              <a:t> Many AI security models act as "Black Boxes," telling you </a:t>
            </a:r>
            <a:r>
              <a:rPr lang="en-US" i="1" dirty="0"/>
              <a:t>what</a:t>
            </a:r>
            <a:r>
              <a:rPr lang="en-US" dirty="0"/>
              <a:t> happened but not </a:t>
            </a:r>
            <a:r>
              <a:rPr lang="en-US" i="1" dirty="0"/>
              <a:t>why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Our Solution:</a:t>
            </a:r>
            <a:r>
              <a:rPr lang="en-US" dirty="0"/>
              <a:t> We moved away from raw data analysis to </a:t>
            </a:r>
            <a:r>
              <a:rPr lang="en-US" b="1" dirty="0"/>
              <a:t>Human-Readable Features</a:t>
            </a:r>
            <a:r>
              <a:rPr lang="en-US" dirty="0"/>
              <a:t>. We classify traffic based on physical behavior (Packet Frequency, Size Regularity, and Flow Volume).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Benefit:</a:t>
            </a:r>
            <a:r>
              <a:rPr lang="en-US" dirty="0"/>
              <a:t> This provides </a:t>
            </a:r>
            <a:r>
              <a:rPr lang="en-US" b="1" dirty="0"/>
              <a:t>Explainable AI (XAI)</a:t>
            </a:r>
            <a:r>
              <a:rPr lang="en-US" dirty="0"/>
              <a:t>. A network admin can verify an alert by looking at the specific behavioral "Fingerprint" (e.g., "High PPS + Large Packet Size = Volumetric Attack").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Innovation 3: Real-Time Concept Drift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Problem:</a:t>
            </a:r>
            <a:r>
              <a:rPr lang="en-US" dirty="0"/>
              <a:t> Cyberattacks evolve, and "normal" network traffic changes over time, making static AI models obsolete.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Our Solution:</a:t>
            </a:r>
            <a:r>
              <a:rPr lang="en-US" dirty="0"/>
              <a:t> We implemented </a:t>
            </a:r>
            <a:r>
              <a:rPr lang="en-US" b="1" dirty="0"/>
              <a:t>Live Confidence Monitoring</a:t>
            </a:r>
            <a:r>
              <a:rPr lang="en-US" dirty="0"/>
              <a:t> and a </a:t>
            </a:r>
            <a:r>
              <a:rPr lang="en-US" b="1" dirty="0"/>
              <a:t>Hybrid Heuristic Engine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Feature:</a:t>
            </a:r>
            <a:r>
              <a:rPr lang="en-US" dirty="0"/>
              <a:t> By plotting a </a:t>
            </a:r>
            <a:r>
              <a:rPr lang="en-US" b="1" dirty="0"/>
              <a:t>Real-Time Confidence Trend</a:t>
            </a:r>
            <a:r>
              <a:rPr lang="en-US" dirty="0"/>
              <a:t>, the system visually signals when traffic behavior "drifts" from the learned baseline. A secondary </a:t>
            </a:r>
            <a:r>
              <a:rPr lang="en-US" b="1" dirty="0"/>
              <a:t>Heuristic Safety Net</a:t>
            </a:r>
            <a:r>
              <a:rPr lang="en-US" dirty="0"/>
              <a:t> catches anomalies that the AI might be uncertain about, ensuring zero-day protection.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F06D04-BD1E-B9E4-AE0F-733FE51CCC18}"/>
              </a:ext>
            </a:extLst>
          </p:cNvPr>
          <p:cNvSpPr txBox="1">
            <a:spLocks/>
          </p:cNvSpPr>
          <p:nvPr/>
        </p:nvSpPr>
        <p:spPr>
          <a:xfrm>
            <a:off x="524235" y="104603"/>
            <a:ext cx="7813430" cy="66560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GB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</p:txBody>
      </p:sp>
    </p:spTree>
    <p:extLst>
      <p:ext uri="{BB962C8B-B14F-4D97-AF65-F5344CB8AC3E}">
        <p14:creationId xmlns:p14="http://schemas.microsoft.com/office/powerpoint/2010/main" val="1005554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1439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6685"/>
            <a:ext cx="8229600" cy="1143000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 and Conclusion</a:t>
            </a:r>
            <a:endParaRPr lang="en-US" altLang="en-GB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734E7B-3641-7906-86DA-D077B18595F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15031" y="1430615"/>
            <a:ext cx="8513937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Prevention Mode: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step is adding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os.system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("iptables -A INPUT -s ... -j DROP") to physically block attackers.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Granularity: Moving from "Attack/Safe" to specific labels like "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Slowloris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"Heartbleed," or "Port Scan."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proven that Early Classification is not just theoretical. Our system successfully detects high-speed anomalies within the first 3 packets with 99%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Statement: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lays the groundwork for a lightweight, autonomous "Network Immune System."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25F2-EDC9-F1BE-0253-5E5399DB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C78B3-6285-A341-5087-5B48FF6E3BD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04/12/2025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8BA80-8533-2A1B-3FDB-93AAED3032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Name of Project(EDAI)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8B85A-8190-CA0F-2842-EB759BC909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A10DFC5-A1AD-BE44-63A2-4BF537BEC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829497"/>
              </p:ext>
            </p:extLst>
          </p:nvPr>
        </p:nvGraphicFramePr>
        <p:xfrm>
          <a:off x="457200" y="1717964"/>
          <a:ext cx="8229600" cy="368530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3022167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2099835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1603712"/>
                    </a:ext>
                  </a:extLst>
                </a:gridCol>
              </a:tblGrid>
              <a:tr h="1832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Google Sans Text"/>
                        </a:rPr>
                        <a:t>Feature</a:t>
                      </a:r>
                      <a:endParaRPr lang="en-IN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Google Sans Text"/>
                        </a:rPr>
                        <a:t>Standard IDS (Current)</a:t>
                      </a:r>
                      <a:endParaRPr lang="en-IN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Sentinel-AI (Ours)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311399"/>
                  </a:ext>
                </a:extLst>
              </a:tr>
              <a:tr h="463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Analysis Timing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  <a:latin typeface="Google Sans Text"/>
                        </a:rPr>
                        <a:t>Post-Flow (Reactive)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Early-Stage (Proactive)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313123"/>
                  </a:ext>
                </a:extLst>
              </a:tr>
              <a:tr h="463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Reasoning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  <a:latin typeface="Google Sans Text"/>
                        </a:rPr>
                        <a:t>Black-Box (Hidden)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Behavioral Fingerprints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136747"/>
                  </a:ext>
                </a:extLst>
              </a:tr>
              <a:tr h="463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Adaptability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  <a:latin typeface="Google Sans Text"/>
                        </a:rPr>
                        <a:t>Static Thresholds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Adaptive Confidence Logic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777106"/>
                  </a:ext>
                </a:extLst>
              </a:tr>
              <a:tr h="463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Google Sans Text"/>
                        </a:rPr>
                        <a:t>Response Time</a:t>
                      </a:r>
                      <a:endParaRPr lang="en-IN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  <a:latin typeface="Google Sans Text"/>
                        </a:rPr>
                        <a:t>Seconds / Minutes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Google Sans Text"/>
                        </a:rPr>
                        <a:t>Milliseconds</a:t>
                      </a:r>
                      <a:endParaRPr lang="en-IN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1914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FFBE252-4E8B-EE79-C792-8BFC85950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29250"/>
              </p:ext>
            </p:extLst>
          </p:nvPr>
        </p:nvGraphicFramePr>
        <p:xfrm>
          <a:off x="457200" y="1762298"/>
          <a:ext cx="1845425" cy="36409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45425">
                  <a:extLst>
                    <a:ext uri="{9D8B030D-6E8A-4147-A177-3AD203B41FA5}">
                      <a16:colId xmlns:a16="http://schemas.microsoft.com/office/drawing/2014/main" val="3931162132"/>
                    </a:ext>
                  </a:extLst>
                </a:gridCol>
              </a:tblGrid>
              <a:tr h="36409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88895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8F8451-FA82-6EDC-8496-7E7207202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941594"/>
              </p:ext>
            </p:extLst>
          </p:nvPr>
        </p:nvGraphicFramePr>
        <p:xfrm>
          <a:off x="415636" y="1787236"/>
          <a:ext cx="8229600" cy="3690851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1135251223"/>
                    </a:ext>
                  </a:extLst>
                </a:gridCol>
              </a:tblGrid>
              <a:tr h="369085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3495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9499211-9392-08F8-F36B-BB744230E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0002"/>
              </p:ext>
            </p:extLst>
          </p:nvPr>
        </p:nvGraphicFramePr>
        <p:xfrm>
          <a:off x="432262" y="1795549"/>
          <a:ext cx="232093" cy="12635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2093">
                  <a:extLst>
                    <a:ext uri="{9D8B030D-6E8A-4147-A177-3AD203B41FA5}">
                      <a16:colId xmlns:a16="http://schemas.microsoft.com/office/drawing/2014/main" val="1049819788"/>
                    </a:ext>
                  </a:extLst>
                </a:gridCol>
              </a:tblGrid>
              <a:tr h="12635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9123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0CB42BD-FD7A-5D07-9BDF-A546DF5E3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58561"/>
              </p:ext>
            </p:extLst>
          </p:nvPr>
        </p:nvGraphicFramePr>
        <p:xfrm>
          <a:off x="415636" y="3075709"/>
          <a:ext cx="2319251" cy="2396836"/>
        </p:xfrm>
        <a:graphic>
          <a:graphicData uri="http://schemas.openxmlformats.org/drawingml/2006/table">
            <a:tbl>
              <a:tblPr/>
              <a:tblGrid>
                <a:gridCol w="2319251">
                  <a:extLst>
                    <a:ext uri="{9D8B030D-6E8A-4147-A177-3AD203B41FA5}">
                      <a16:colId xmlns:a16="http://schemas.microsoft.com/office/drawing/2014/main" val="4115324271"/>
                    </a:ext>
                  </a:extLst>
                </a:gridCol>
              </a:tblGrid>
              <a:tr h="239683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95698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41430C4-FA2E-DF30-9F48-62094556B77B}"/>
              </a:ext>
            </a:extLst>
          </p:cNvPr>
          <p:cNvGraphicFramePr>
            <a:graphicFrameLocks noGrp="1"/>
          </p:cNvGraphicFramePr>
          <p:nvPr/>
        </p:nvGraphicFramePr>
        <p:xfrm>
          <a:off x="2726575" y="3067396"/>
          <a:ext cx="2934392" cy="2410691"/>
        </p:xfrm>
        <a:graphic>
          <a:graphicData uri="http://schemas.openxmlformats.org/drawingml/2006/table">
            <a:tbl>
              <a:tblPr/>
              <a:tblGrid>
                <a:gridCol w="2934392">
                  <a:extLst>
                    <a:ext uri="{9D8B030D-6E8A-4147-A177-3AD203B41FA5}">
                      <a16:colId xmlns:a16="http://schemas.microsoft.com/office/drawing/2014/main" val="4050792633"/>
                    </a:ext>
                  </a:extLst>
                </a:gridCol>
              </a:tblGrid>
              <a:tr h="24106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68976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4198FE9-0059-B9CB-3921-A7562E4AB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840845"/>
              </p:ext>
            </p:extLst>
          </p:nvPr>
        </p:nvGraphicFramePr>
        <p:xfrm>
          <a:off x="5660967" y="3059084"/>
          <a:ext cx="2967644" cy="2410691"/>
        </p:xfrm>
        <a:graphic>
          <a:graphicData uri="http://schemas.openxmlformats.org/drawingml/2006/table">
            <a:tbl>
              <a:tblPr/>
              <a:tblGrid>
                <a:gridCol w="2967644">
                  <a:extLst>
                    <a:ext uri="{9D8B030D-6E8A-4147-A177-3AD203B41FA5}">
                      <a16:colId xmlns:a16="http://schemas.microsoft.com/office/drawing/2014/main" val="4024775639"/>
                    </a:ext>
                  </a:extLst>
                </a:gridCol>
              </a:tblGrid>
              <a:tr h="24106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4444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91850FB-33AD-E4D7-A6A5-D43E11516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957206"/>
              </p:ext>
            </p:extLst>
          </p:nvPr>
        </p:nvGraphicFramePr>
        <p:xfrm>
          <a:off x="415636" y="1803862"/>
          <a:ext cx="2310939" cy="1280160"/>
        </p:xfrm>
        <a:graphic>
          <a:graphicData uri="http://schemas.openxmlformats.org/drawingml/2006/table">
            <a:tbl>
              <a:tblPr/>
              <a:tblGrid>
                <a:gridCol w="2310939">
                  <a:extLst>
                    <a:ext uri="{9D8B030D-6E8A-4147-A177-3AD203B41FA5}">
                      <a16:colId xmlns:a16="http://schemas.microsoft.com/office/drawing/2014/main" val="1466431142"/>
                    </a:ext>
                  </a:extLst>
                </a:gridCol>
              </a:tblGrid>
              <a:tr h="12801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0721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9360361-8C2D-AB36-7FDE-E115614CC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789843"/>
              </p:ext>
            </p:extLst>
          </p:nvPr>
        </p:nvGraphicFramePr>
        <p:xfrm>
          <a:off x="2718262" y="1803862"/>
          <a:ext cx="2934393" cy="1246909"/>
        </p:xfrm>
        <a:graphic>
          <a:graphicData uri="http://schemas.openxmlformats.org/drawingml/2006/table">
            <a:tbl>
              <a:tblPr/>
              <a:tblGrid>
                <a:gridCol w="2934393">
                  <a:extLst>
                    <a:ext uri="{9D8B030D-6E8A-4147-A177-3AD203B41FA5}">
                      <a16:colId xmlns:a16="http://schemas.microsoft.com/office/drawing/2014/main" val="4284069142"/>
                    </a:ext>
                  </a:extLst>
                </a:gridCol>
              </a:tblGrid>
              <a:tr h="124690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917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065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11</a:t>
            </a:fld>
            <a:endParaRPr lang="en-US"/>
          </a:p>
        </p:txBody>
      </p:sp>
      <p:sp>
        <p:nvSpPr>
          <p:cNvPr id="163" name="Google Shape;163;p8"/>
          <p:cNvSpPr/>
          <p:nvPr/>
        </p:nvSpPr>
        <p:spPr>
          <a:xfrm>
            <a:off x="1174019" y="2613412"/>
            <a:ext cx="6607173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Thank You</a:t>
            </a:r>
            <a:endParaRPr sz="10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I_MSE" id="{471F1F54-2F67-F541-90AF-DCDC97B413FC}" vid="{84EC5357-9B67-FE4F-988D-F926121D48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1921</TotalTime>
  <Words>1459</Words>
  <Application>Microsoft Office PowerPoint</Application>
  <PresentationFormat>On-screen Show (4:3)</PresentationFormat>
  <Paragraphs>142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Google Sans Text</vt:lpstr>
      <vt:lpstr>Open Sans</vt:lpstr>
      <vt:lpstr>Times New Roman</vt:lpstr>
      <vt:lpstr>Office Theme</vt:lpstr>
      <vt:lpstr>PowerPoint Presentation</vt:lpstr>
      <vt:lpstr>PROBLEM STATEMENT</vt:lpstr>
      <vt:lpstr>INTRODUCTION</vt:lpstr>
      <vt:lpstr>OBJECTIVES</vt:lpstr>
      <vt:lpstr>PowerPoint Presentation</vt:lpstr>
      <vt:lpstr>PowerPoint Presentation</vt:lpstr>
      <vt:lpstr>PowerPoint Presentation</vt:lpstr>
      <vt:lpstr>PowerPoint Presentation</vt:lpstr>
      <vt:lpstr>Future Enhancement and Conclusion</vt:lpstr>
      <vt:lpstr>Research Gap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Dell'</dc:creator>
  <cp:lastModifiedBy>saumya dhorje</cp:lastModifiedBy>
  <cp:revision>104</cp:revision>
  <dcterms:created xsi:type="dcterms:W3CDTF">2025-02-26T11:06:00Z</dcterms:created>
  <dcterms:modified xsi:type="dcterms:W3CDTF">2026-04-26T15:43:53Z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18FE7E346F40407F9F53C28E5E18D606_12</vt:lpwstr>
  </property>
  <property fmtid="{D5CDD505-2E9C-101B-9397-08002B2CF9AE}" pid="3" name="KSOProductBuildVer">
    <vt:lpwstr>2057-12.2.0.19821</vt:lpwstr>
  </property>
</Properties>
</file>