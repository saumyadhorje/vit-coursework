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68" r:id="rId2"/>
    <p:sldId id="280" r:id="rId3"/>
    <p:sldId id="257" r:id="rId4"/>
    <p:sldId id="282" r:id="rId5"/>
    <p:sldId id="287" r:id="rId6"/>
    <p:sldId id="292" r:id="rId7"/>
    <p:sldId id="290" r:id="rId8"/>
    <p:sldId id="291" r:id="rId9"/>
    <p:sldId id="293" r:id="rId10"/>
    <p:sldId id="289" r:id="rId11"/>
    <p:sldId id="261" r:id="rId12"/>
    <p:sldId id="294" r:id="rId13"/>
    <p:sldId id="295" r:id="rId14"/>
    <p:sldId id="263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0" autoAdjust="0"/>
    <p:restoredTop sz="96081" autoAdjust="0"/>
  </p:normalViewPr>
  <p:slideViewPr>
    <p:cSldViewPr snapToGrid="0" showGuides="1">
      <p:cViewPr varScale="1">
        <p:scale>
          <a:sx n="77" d="100"/>
          <a:sy n="77" d="100"/>
        </p:scale>
        <p:origin x="828" y="60"/>
      </p:cViewPr>
      <p:guideLst>
        <p:guide orient="horz" pos="214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2306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“When we looked at existing research, we found that most work depends on large models or focuses on just one technique at a time.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Very little research explores </a:t>
            </a:r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small-model pipelines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even though they are more practical for real-world deployment.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structured JSON extraction from varied resumes — especially medical resumes — is still an underexplored area.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 the key gap we address is this:</a:t>
            </a:r>
          </a:p>
          <a:p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can we achieve accurate, consistent, and valid JSON extraction using a small, domain-specific language model across highly varied resume formats?</a:t>
            </a:r>
            <a:endParaRPr lang="en-IN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Our project attempts to fill exactly this gap.”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57180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Resumes come in all kinds of formats — neat, messy, creative, or completely unstructured. A recruiter still needs to extract the same key details: name, email, skills, and experience. Our goal is to build a model that acts like a smart recruiter and converts any resume into a clean JSON format.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Instead of relying on a massive LLM, we trained a </a:t>
            </a:r>
            <a:r>
              <a:rPr lang="en-IN" sz="1200" b="1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 Language Model (SLM)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specifically for this extraction task. SLMs are faster, cheaper, and much easier to deploy while still achieving high accuracy on domain-focused tasks when trained properly.</a:t>
            </a:r>
          </a:p>
          <a:p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understand this fully, we evaluated six techniques — Few-shot Prompting, </a:t>
            </a:r>
            <a:r>
              <a:rPr lang="en-IN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LoRA</a:t>
            </a:r>
            <a:r>
              <a:rPr lang="en-IN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Fine-tuning, Curriculum Learning, Constraint Decoding, Synthetic Augmentation, and our proposed Hybrid ERR method — on both general and medical resumes.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problem we identified is that resumes are highly unstructured, and extracting clean, consistent JSON information is very difficult for small language </a:t>
            </a:r>
            <a:r>
              <a:rPr lang="en-US" dirty="0" err="1"/>
              <a:t>models.They</a:t>
            </a:r>
            <a:r>
              <a:rPr lang="en-US" dirty="0"/>
              <a:t> struggle with:	</a:t>
            </a:r>
          </a:p>
          <a:p>
            <a:pPr>
              <a:buAutoNum type="arabicPeriod"/>
            </a:pPr>
            <a:r>
              <a:rPr lang="en-US" dirty="0"/>
              <a:t>Inconsistent formatting – sometimes skills come before experience, sometimes after.	</a:t>
            </a:r>
          </a:p>
          <a:p>
            <a:pPr>
              <a:buAutoNum type="arabicPeriod"/>
            </a:pPr>
            <a:r>
              <a:rPr lang="en-US" dirty="0"/>
              <a:t>2.	Broken JSON outputs – brackets missing, quotes missing, structure incorrect.	</a:t>
            </a:r>
          </a:p>
          <a:p>
            <a:pPr>
              <a:buAutoNum type="arabicPeriod"/>
            </a:pPr>
            <a:r>
              <a:rPr lang="en-US" dirty="0"/>
              <a:t>3.	Domain-specific resumes – especially medical resumes with technical terms.	</a:t>
            </a:r>
          </a:p>
          <a:p>
            <a:pPr>
              <a:buAutoNum type="arabicPeriod"/>
            </a:pPr>
            <a:r>
              <a:rPr lang="en-US" dirty="0"/>
              <a:t>4.	Few-shot prompting inconsistency – outputs change every time, not reliable.	</a:t>
            </a:r>
          </a:p>
          <a:p>
            <a:pPr>
              <a:buAutoNum type="arabicPeriod"/>
            </a:pPr>
            <a:r>
              <a:rPr lang="en-US" dirty="0"/>
              <a:t>5.	Lack of a model that works well on CPU with low </a:t>
            </a:r>
            <a:r>
              <a:rPr lang="en-US" dirty="0" err="1"/>
              <a:t>resources.So</a:t>
            </a:r>
            <a:r>
              <a:rPr lang="en-US" dirty="0"/>
              <a:t> the main challenge becomes:👉 How do we convert messy, unstructured resume text into accurate structured JSON using a small model, without relying on expensive large language </a:t>
            </a:r>
            <a:r>
              <a:rPr lang="en-US" dirty="0" err="1"/>
              <a:t>models?This</a:t>
            </a:r>
            <a:r>
              <a:rPr lang="en-US" dirty="0"/>
              <a:t> challenge motivated our entire study.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66742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 Prompting -  this works on the prompting</a:t>
            </a:r>
          </a:p>
          <a:p>
            <a:r>
              <a:rPr lang="en-US" dirty="0" err="1"/>
              <a:t>LoRA</a:t>
            </a:r>
            <a:r>
              <a:rPr lang="en-US" dirty="0"/>
              <a:t> - it trains small extra layers of model </a:t>
            </a:r>
          </a:p>
          <a:p>
            <a:r>
              <a:rPr lang="en-US" dirty="0"/>
              <a:t>Curriculum Learning - in this we increase difficulty level gradually</a:t>
            </a:r>
          </a:p>
          <a:p>
            <a:r>
              <a:rPr lang="en-US" dirty="0"/>
              <a:t>Constraints-Based Decoding - in this we give constraints to output</a:t>
            </a:r>
          </a:p>
          <a:p>
            <a:r>
              <a:rPr lang="en-US" dirty="0"/>
              <a:t>Synthetic Data Augmentation - in this we provide extra training data Last one is Hybrid-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162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This project compared five techniques—Few-shot prompting, </a:t>
            </a:r>
            <a:r>
              <a:rPr lang="en-US" dirty="0" err="1"/>
              <a:t>LoRA</a:t>
            </a:r>
            <a:r>
              <a:rPr lang="en-US" dirty="0"/>
              <a:t> fine-tuning, Curriculum Learning, Constraint-based Decoding, and Synthetic Data Augmentation—using accuracy and </a:t>
            </a:r>
            <a:r>
              <a:rPr lang="en-US" dirty="0" err="1"/>
              <a:t>Levenshtein</a:t>
            </a:r>
            <a:r>
              <a:rPr lang="en-US" dirty="0"/>
              <a:t> distance on both general and medical resume datasets. Results showed that each method performs differently depending on data complexity and domain. We then proposed a Hybrid approach that combines candidate generation, JSON repair, schema normalization, and signal-guided reranking. Although not always the top performer, the Hybrid method improves reliability and consistency, especially for noisy or domain-specific resumes. Overall, this study highlights key trade-offs across methods and demonstrates how a multi-step pipeline can enhance resume parsing robustness.</a:t>
            </a:r>
            <a:endParaRPr dirty="0"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dirty="0"/>
              <a:t>04/12/2025</a:t>
            </a: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dirty="0"/>
              <a:t>Name of Project(EDAI)</a:t>
            </a: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582" y="330919"/>
            <a:ext cx="827042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MFAI PROJECT_PPT</a:t>
            </a:r>
            <a:b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 b="1" dirty="0">
                <a:solidFill>
                  <a:schemeClr val="accent3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FOR END SEMESTER ASSESSMENT- APRIL-26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342" y="2224843"/>
            <a:ext cx="838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Div:-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AIDS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B              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EDAI_GROUP No:- </a:t>
            </a:r>
            <a:r>
              <a:rPr lang="en-US" sz="1600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07                </a:t>
            </a:r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Day:-Monday            Date:- 18/5/26</a:t>
            </a:r>
            <a:endParaRPr lang="en-US" sz="1600" dirty="0">
              <a:latin typeface="Times New Roman" panose="02020603050405020304" charset="0"/>
              <a:ea typeface="Open Sans" panose="020B06060305040202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406027"/>
            <a:ext cx="7772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DEPARTMENT OF ARTIFICIAL INTELLIGENCE AND DATA SCIENCE (AIDS)</a:t>
            </a:r>
          </a:p>
          <a:p>
            <a:pPr algn="ctr"/>
            <a:r>
              <a:rPr lang="en-US" sz="16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rPr>
              <a:t>VISHWAKARMA INSTITUTE OF TECHNOLOGY, PUNE</a:t>
            </a:r>
          </a:p>
          <a:p>
            <a:pPr algn="ctr"/>
            <a:endParaRPr lang="en-US" sz="1600" b="1" dirty="0">
              <a:latin typeface="Times New Roman" panose="02020603050405020304" charset="0"/>
              <a:ea typeface="Open Sans" panose="020B0606030504020204" charset="0"/>
              <a:cs typeface="Times New Roman" panose="0202060305040502030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38307" y="1086857"/>
            <a:ext cx="6916294" cy="937158"/>
            <a:chOff x="1506310" y="974015"/>
            <a:chExt cx="5984422" cy="336353"/>
          </a:xfrm>
        </p:grpSpPr>
        <p:sp>
          <p:nvSpPr>
            <p:cNvPr id="3" name="TextBox 2"/>
            <p:cNvSpPr txBox="1"/>
            <p:nvPr/>
          </p:nvSpPr>
          <p:spPr>
            <a:xfrm>
              <a:off x="1506310" y="995620"/>
              <a:ext cx="5984421" cy="149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IN" sz="1800" dirty="0" err="1"/>
                <a:t>NeuroScan</a:t>
              </a:r>
              <a:r>
                <a:rPr lang="en-IN" sz="1800" dirty="0"/>
                <a:t> AI – Brain Tumour Detection System</a:t>
              </a:r>
              <a:endParaRPr lang="en-US" sz="1800" b="1" dirty="0">
                <a:latin typeface="Times New Roman" panose="02020603050405020304" charset="0"/>
                <a:ea typeface="Open Sans" panose="020B0606030504020204" charset="0"/>
                <a:cs typeface="Times New Roman" panose="0202060305040502030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06311" y="974015"/>
              <a:ext cx="5984421" cy="3363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endParaRPr lang="en-IN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59271" y="3163279"/>
            <a:ext cx="3094264" cy="1868915"/>
            <a:chOff x="1220561" y="2147914"/>
            <a:chExt cx="3094264" cy="1868915"/>
          </a:xfrm>
        </p:grpSpPr>
        <p:sp>
          <p:nvSpPr>
            <p:cNvPr id="5" name="TextBox 4"/>
            <p:cNvSpPr txBox="1"/>
            <p:nvPr/>
          </p:nvSpPr>
          <p:spPr>
            <a:xfrm>
              <a:off x="1273628" y="2151375"/>
              <a:ext cx="304119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Presented By :</a:t>
              </a:r>
            </a:p>
            <a:p>
              <a:pPr algn="l"/>
              <a:endParaRPr lang="en-US" dirty="0"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1) Teesha Madan (12411254)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2) Satyam Kumar(12413236)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3) Saumya Dhorje(12414484)</a:t>
              </a:r>
            </a:p>
            <a:p>
              <a:pPr algn="l"/>
              <a:r>
                <a:rPr lang="en-US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4) Ananya Gaikwad (12414480)</a:t>
              </a:r>
            </a:p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20561" y="2147914"/>
              <a:ext cx="2902403" cy="1868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37702" y="3429000"/>
            <a:ext cx="2306097" cy="1080772"/>
            <a:chOff x="5176157" y="2147914"/>
            <a:chExt cx="1983922" cy="778982"/>
          </a:xfrm>
        </p:grpSpPr>
        <p:sp>
          <p:nvSpPr>
            <p:cNvPr id="6" name="TextBox 5"/>
            <p:cNvSpPr txBox="1"/>
            <p:nvPr/>
          </p:nvSpPr>
          <p:spPr>
            <a:xfrm>
              <a:off x="5188402" y="2147914"/>
              <a:ext cx="1971677" cy="532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+mj-lt"/>
                  <a:ea typeface="Open Sans" panose="020B0606030504020204" charset="0"/>
                  <a:cs typeface="Open Sans" panose="020B0606030504020204" charset="0"/>
                </a:rPr>
                <a:t>Project Guide :</a:t>
              </a:r>
            </a:p>
            <a:p>
              <a:endParaRPr lang="en-US" dirty="0"/>
            </a:p>
            <a:p>
              <a:r>
                <a:rPr lang="en-US" dirty="0">
                  <a:latin typeface="Times New Roman" panose="02020603050405020304" charset="0"/>
                  <a:ea typeface="Open Sans" panose="020B0606030504020204" charset="0"/>
                  <a:cs typeface="Times New Roman" panose="02020603050405020304" charset="0"/>
                </a:rPr>
                <a:t>Prof. Shital Dongre</a:t>
              </a:r>
              <a:r>
                <a:rPr lang="en-IN" dirty="0">
                  <a:latin typeface="Times New Roman" panose="02020603050405020304" charset="0"/>
                  <a:ea typeface="Open Sans" panose="020B0606030504020204" charset="0"/>
                  <a:cs typeface="Times New Roman" panose="02020603050405020304" charset="0"/>
                </a:rPr>
                <a:t> </a:t>
              </a:r>
              <a:endParaRPr lang="en-US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76157" y="2147914"/>
              <a:ext cx="1983922" cy="7789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1" name="Google Shape;10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0480" y="45720"/>
            <a:ext cx="940777" cy="93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5FA7-D1F2-7FE4-801E-1491E322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8" y="300763"/>
            <a:ext cx="8229600" cy="1143000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Google Shape;101;p2">
            <a:extLst>
              <a:ext uri="{FF2B5EF4-FFF2-40B4-BE49-F238E27FC236}">
                <a16:creationId xmlns:a16="http://schemas.microsoft.com/office/drawing/2014/main" id="{F890C8C5-B842-29ED-2C8F-5771BCF094A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9FB7CE3-AF11-7885-D6E8-DD2AF3E59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08CF58-08D8-4184-9E4A-FF2B81903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34" y="1568823"/>
            <a:ext cx="750013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tumor detection through MRI analysis is complex and time-consuming.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depends heavily on radiologist expertise.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 scans often contain noise and low contrast, making tumor identification difficult.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that can: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enhance MRI images 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 tumor regions 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classify scans accurately using AI and image 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21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52" y="306766"/>
            <a:ext cx="7578969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E6403DF-E233-03FF-D042-1FFDACCE8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00" y="3524806"/>
            <a:ext cx="799824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A3D76-A231-B861-41B1-B2F7091EA191}"/>
              </a:ext>
            </a:extLst>
          </p:cNvPr>
          <p:cNvSpPr txBox="1"/>
          <p:nvPr/>
        </p:nvSpPr>
        <p:spPr>
          <a:xfrm>
            <a:off x="546588" y="2278089"/>
            <a:ext cx="833629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NeuroScan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is an intelligent MRI-based brain tumour detection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image processing and machine learning for accurate diagnosis.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MRI scans to improve tumour visibility.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suspicious tumour regions automatically.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prediction through a Flask-based web application.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support radiologists with faster and more reliable analysis.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1FEB-45F7-2E7A-5539-8ED4F9127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6F3C-668F-0407-F0AB-E891EDA4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12" y="539747"/>
            <a:ext cx="8229600" cy="1143000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16639636-F92D-44DC-A9DC-CCE39B41405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1CC9D14-070E-4E15-BC32-508A9EF05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51" y="2225198"/>
            <a:ext cx="8163098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MRI image quality using image processing techniques.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 noise and improve tumor visibility.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Segment suspicious tumor regions accurately.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Extract statistical and texture-based features.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Classify MRI scans as Tumor / No Tumor using Machine Learning.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 an interactive web-based detection system. </a:t>
            </a:r>
          </a:p>
        </p:txBody>
      </p:sp>
    </p:spTree>
    <p:extLst>
      <p:ext uri="{BB962C8B-B14F-4D97-AF65-F5344CB8AC3E}">
        <p14:creationId xmlns:p14="http://schemas.microsoft.com/office/powerpoint/2010/main" val="380257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3D9E0DDD-244A-B4C7-F9AC-C0AE6484FDF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C5C7BA-CF87-FBE0-4A42-70DBA35174C2}"/>
              </a:ext>
            </a:extLst>
          </p:cNvPr>
          <p:cNvSpPr txBox="1"/>
          <p:nvPr/>
        </p:nvSpPr>
        <p:spPr>
          <a:xfrm>
            <a:off x="1920056" y="608074"/>
            <a:ext cx="5057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D01E6E-6532-499F-B3C1-7AF6F9E11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977" y="1737360"/>
            <a:ext cx="6165219" cy="2018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42ADC-16D0-9658-0DD5-99DA65D5425C}"/>
              </a:ext>
            </a:extLst>
          </p:cNvPr>
          <p:cNvSpPr txBox="1"/>
          <p:nvPr/>
        </p:nvSpPr>
        <p:spPr>
          <a:xfrm>
            <a:off x="714894" y="2071829"/>
            <a:ext cx="7855527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 image acquisition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Grayscale conversion &amp; resizing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Histogram Equalization &amp; Contrast Stretching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Median Filter &amp; Gaussian Blur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Image Sharpening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Tumour Segmentation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Feature Extraction (GLCM + Statistical Features)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Random Forest Classification9. Result Visualization on Web Interface</a:t>
            </a:r>
          </a:p>
        </p:txBody>
      </p:sp>
    </p:spTree>
    <p:extLst>
      <p:ext uri="{BB962C8B-B14F-4D97-AF65-F5344CB8AC3E}">
        <p14:creationId xmlns:p14="http://schemas.microsoft.com/office/powerpoint/2010/main" val="371524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96F8B-ADB8-161D-B26A-8FC4835EB3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7D7BB-F006-0D3B-734F-65BD22A22C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766A-BC7F-C71D-8604-D5CDD09591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FD75D-A4C4-BE60-3093-3E53DD28ACBD}"/>
              </a:ext>
            </a:extLst>
          </p:cNvPr>
          <p:cNvSpPr txBox="1"/>
          <p:nvPr/>
        </p:nvSpPr>
        <p:spPr>
          <a:xfrm>
            <a:off x="457200" y="361793"/>
            <a:ext cx="785746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482752-44BA-8D96-78CA-C5E4FDF2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0" y="1118043"/>
            <a:ext cx="7857461" cy="523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1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F19D6-0C86-9721-6203-C221C14AD3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9702FD16-C345-2FC5-DEEF-18738467124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768D4-D7DE-2CAD-2C22-7792351A45D4}"/>
              </a:ext>
            </a:extLst>
          </p:cNvPr>
          <p:cNvSpPr txBox="1"/>
          <p:nvPr/>
        </p:nvSpPr>
        <p:spPr>
          <a:xfrm>
            <a:off x="2606286" y="308816"/>
            <a:ext cx="39469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92C11-E6CB-BE2A-FCC3-3DDC0B1E8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7" y="1084225"/>
            <a:ext cx="8055033" cy="56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2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C39DD-A4C9-0FBB-BCA8-DF2F2B63D3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65CF0-6597-9643-FCBB-5119106650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184AF-228A-B0CA-BC91-1CB7ACAAEE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2B0CE9C-79D2-6746-7E3B-FDA8C304C8FD}"/>
              </a:ext>
            </a:extLst>
          </p:cNvPr>
          <p:cNvSpPr txBox="1"/>
          <p:nvPr/>
        </p:nvSpPr>
        <p:spPr>
          <a:xfrm>
            <a:off x="983609" y="527660"/>
            <a:ext cx="7378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59B0DBC-35BD-4FD0-713E-2A0F478E2ED5}"/>
              </a:ext>
            </a:extLst>
          </p:cNvPr>
          <p:cNvSpPr txBox="1"/>
          <p:nvPr/>
        </p:nvSpPr>
        <p:spPr>
          <a:xfrm>
            <a:off x="685897" y="2218573"/>
            <a:ext cx="797441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Deep Learning models (CNN/U-Net)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Multi-class tumor classification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MRI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for hospitals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diagnostic assistance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medical datasets for improved accuracy</a:t>
            </a:r>
          </a:p>
        </p:txBody>
      </p:sp>
    </p:spTree>
    <p:extLst>
      <p:ext uri="{BB962C8B-B14F-4D97-AF65-F5344CB8AC3E}">
        <p14:creationId xmlns:p14="http://schemas.microsoft.com/office/powerpoint/2010/main" val="387058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B0172-3B52-6823-4FE5-B4A48660A6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A882A-AAA1-943E-B9AB-AB8E155763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5A055-5C24-0882-3B35-35138A03A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6DFB7-447B-0D0F-6EED-8A7104310635}"/>
              </a:ext>
            </a:extLst>
          </p:cNvPr>
          <p:cNvSpPr txBox="1"/>
          <p:nvPr/>
        </p:nvSpPr>
        <p:spPr>
          <a:xfrm>
            <a:off x="361507" y="346125"/>
            <a:ext cx="8420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CD296-03A8-540B-A1A8-F5D5E6FB4FD9}"/>
              </a:ext>
            </a:extLst>
          </p:cNvPr>
          <p:cNvSpPr txBox="1"/>
          <p:nvPr/>
        </p:nvSpPr>
        <p:spPr>
          <a:xfrm>
            <a:off x="569422" y="1652527"/>
            <a:ext cx="78222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MRI analysis is time-consuming.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highly experienced radiologists.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have high computational complexity.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often lack visualization and explainability.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models focus only on classification without proper image enhancement.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Improvement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interactive detection system.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image enhancement, segmentation, and ML classification.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outputs and ROI highlighting.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explainable predictions through Flask dashboard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58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C30C-C59C-AC92-10A2-8B6B0E7B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B9A9-70EE-A6EC-7726-31C5384C00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7308" y="640910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72967CB9-1972-BA81-A0D8-DC364DAC230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767862" cy="74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330570" y="309372"/>
            <a:ext cx="7813430" cy="66560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en-GB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6226AA-A7EE-4619-B3CB-40FED124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275" y="2214073"/>
            <a:ext cx="693719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  			 Purpose 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      			 Core development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   			 Image processing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   			 Numerical operations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 			 Machine learning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          			 Web framework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HTML/CSS/JS  			  Frontend UI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   			  Graphs &amp; histograms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59ADF6-FBDC-C76A-FDAF-728456EFC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829262"/>
              </p:ext>
            </p:extLst>
          </p:nvPr>
        </p:nvGraphicFramePr>
        <p:xfrm>
          <a:off x="964276" y="2219498"/>
          <a:ext cx="6907877" cy="365760"/>
        </p:xfrm>
        <a:graphic>
          <a:graphicData uri="http://schemas.openxmlformats.org/drawingml/2006/table">
            <a:tbl>
              <a:tblPr/>
              <a:tblGrid>
                <a:gridCol w="6907877">
                  <a:extLst>
                    <a:ext uri="{9D8B030D-6E8A-4147-A177-3AD203B41FA5}">
                      <a16:colId xmlns:a16="http://schemas.microsoft.com/office/drawing/2014/main" val="15169997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7487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F7563A-4A05-E2C2-13B4-F5F7447FB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99754"/>
              </p:ext>
            </p:extLst>
          </p:nvPr>
        </p:nvGraphicFramePr>
        <p:xfrm>
          <a:off x="955964" y="2590683"/>
          <a:ext cx="6899563" cy="2222547"/>
        </p:xfrm>
        <a:graphic>
          <a:graphicData uri="http://schemas.openxmlformats.org/drawingml/2006/table">
            <a:tbl>
              <a:tblPr/>
              <a:tblGrid>
                <a:gridCol w="6899563">
                  <a:extLst>
                    <a:ext uri="{9D8B030D-6E8A-4147-A177-3AD203B41FA5}">
                      <a16:colId xmlns:a16="http://schemas.microsoft.com/office/drawing/2014/main" val="4054916659"/>
                    </a:ext>
                  </a:extLst>
                </a:gridCol>
              </a:tblGrid>
              <a:tr h="22225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1683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2F1724-72EC-019D-3E90-229EBDB41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6876"/>
              </p:ext>
            </p:extLst>
          </p:nvPr>
        </p:nvGraphicFramePr>
        <p:xfrm>
          <a:off x="955964" y="2585258"/>
          <a:ext cx="6899563" cy="1812175"/>
        </p:xfrm>
        <a:graphic>
          <a:graphicData uri="http://schemas.openxmlformats.org/drawingml/2006/table">
            <a:tbl>
              <a:tblPr/>
              <a:tblGrid>
                <a:gridCol w="6899563">
                  <a:extLst>
                    <a:ext uri="{9D8B030D-6E8A-4147-A177-3AD203B41FA5}">
                      <a16:colId xmlns:a16="http://schemas.microsoft.com/office/drawing/2014/main" val="585992370"/>
                    </a:ext>
                  </a:extLst>
                </a:gridCol>
              </a:tblGrid>
              <a:tr h="18121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8901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13009B-D70C-D2C8-0D3E-1BF4A99A6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853922"/>
              </p:ext>
            </p:extLst>
          </p:nvPr>
        </p:nvGraphicFramePr>
        <p:xfrm>
          <a:off x="955964" y="2876204"/>
          <a:ext cx="6899563" cy="324196"/>
        </p:xfrm>
        <a:graphic>
          <a:graphicData uri="http://schemas.openxmlformats.org/drawingml/2006/table">
            <a:tbl>
              <a:tblPr/>
              <a:tblGrid>
                <a:gridCol w="6899563">
                  <a:extLst>
                    <a:ext uri="{9D8B030D-6E8A-4147-A177-3AD203B41FA5}">
                      <a16:colId xmlns:a16="http://schemas.microsoft.com/office/drawing/2014/main" val="361559727"/>
                    </a:ext>
                  </a:extLst>
                </a:gridCol>
              </a:tblGrid>
              <a:tr h="32419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47358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A2FEFB-0CB7-B00A-C2E2-A91E17B19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220065"/>
              </p:ext>
            </p:extLst>
          </p:nvPr>
        </p:nvGraphicFramePr>
        <p:xfrm>
          <a:off x="972589" y="3200400"/>
          <a:ext cx="6882938" cy="349135"/>
        </p:xfrm>
        <a:graphic>
          <a:graphicData uri="http://schemas.openxmlformats.org/drawingml/2006/table">
            <a:tbl>
              <a:tblPr/>
              <a:tblGrid>
                <a:gridCol w="6882938">
                  <a:extLst>
                    <a:ext uri="{9D8B030D-6E8A-4147-A177-3AD203B41FA5}">
                      <a16:colId xmlns:a16="http://schemas.microsoft.com/office/drawing/2014/main" val="366499190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7711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632568-68DA-0661-C02D-298D537C9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22024"/>
              </p:ext>
            </p:extLst>
          </p:nvPr>
        </p:nvGraphicFramePr>
        <p:xfrm>
          <a:off x="980901" y="3824357"/>
          <a:ext cx="6866313" cy="304800"/>
        </p:xfrm>
        <a:graphic>
          <a:graphicData uri="http://schemas.openxmlformats.org/drawingml/2006/table">
            <a:tbl>
              <a:tblPr/>
              <a:tblGrid>
                <a:gridCol w="6866313">
                  <a:extLst>
                    <a:ext uri="{9D8B030D-6E8A-4147-A177-3AD203B41FA5}">
                      <a16:colId xmlns:a16="http://schemas.microsoft.com/office/drawing/2014/main" val="746927786"/>
                    </a:ext>
                  </a:extLst>
                </a:gridCol>
              </a:tblGrid>
              <a:tr h="248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73766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A5F5FB-CD47-BA60-F460-69B6D00EE519}"/>
              </a:ext>
            </a:extLst>
          </p:cNvPr>
          <p:cNvCxnSpPr>
            <a:cxnSpLocks/>
          </p:cNvCxnSpPr>
          <p:nvPr/>
        </p:nvCxnSpPr>
        <p:spPr>
          <a:xfrm>
            <a:off x="3890356" y="2214073"/>
            <a:ext cx="0" cy="2599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7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439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6685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92D62-9116-41CD-8B27-35D3384D67F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4337" y="4410795"/>
            <a:ext cx="8099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105BB1-B5C3-428D-BB0D-709D5C267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516" y="2272181"/>
            <a:ext cx="7863840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an AI-based brain tumor detection system using MRI scans.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image enhancement, segmentation, and feature extraction techniques.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Random Forest classifier for accurate prediction.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approximately 94% classification accuracy.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deployed an interactive Flask-based web application for visualization and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36D0022-88DC-A5E2-5623-1C705A4A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Screenshots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D733-070A-0422-0256-CE37CC60B5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35BFE-D38C-A240-1BB1-89D8CDB657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DCD96-AD93-06C2-A940-FF5FF550AD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122F0-99AB-32F7-2F02-736731B61639}"/>
              </a:ext>
            </a:extLst>
          </p:cNvPr>
          <p:cNvSpPr txBox="1"/>
          <p:nvPr/>
        </p:nvSpPr>
        <p:spPr>
          <a:xfrm>
            <a:off x="2286000" y="32751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03E798-63F4-5C2B-49AF-1D83B3BA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67" y="2027421"/>
            <a:ext cx="6508865" cy="31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71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341267-B061-86BF-85AA-2C9A4BAE3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901" y="872838"/>
            <a:ext cx="3883429" cy="558678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Results: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       | Score | 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   | 94%   |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  | 94%   |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       | 94%   | </a:t>
            </a:r>
          </a:p>
          <a:p>
            <a:pPr marL="1143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   | 94%   | </a:t>
            </a:r>
          </a:p>
          <a:p>
            <a:pPr marL="11430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Accurate ROI detection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visualization through Flask dashboard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4B2EC-C44B-0A7B-BD7D-F35F0840CB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04/12/2025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F3034-1A40-6DE9-D25C-7C9C7B04D1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Name of Project(EDAI)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DFBF0-6437-5FCE-0F39-682E96CDB4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B2FB4-DA5B-FD21-7874-801415EB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629" y="952123"/>
            <a:ext cx="4664469" cy="558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00" y="76200"/>
            <a:ext cx="940777" cy="93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14</a:t>
            </a:fld>
            <a:endParaRPr lang="en-US"/>
          </a:p>
        </p:txBody>
      </p:sp>
      <p:sp>
        <p:nvSpPr>
          <p:cNvPr id="163" name="Google Shape;163;p8"/>
          <p:cNvSpPr/>
          <p:nvPr/>
        </p:nvSpPr>
        <p:spPr>
          <a:xfrm>
            <a:off x="1174019" y="2613412"/>
            <a:ext cx="6607173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Thank You</a:t>
            </a:r>
            <a:endParaRPr sz="10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I_MSE" id="{471F1F54-2F67-F541-90AF-DCDC97B413FC}" vid="{84EC5357-9B67-FE4F-988D-F926121D48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1963</TotalTime>
  <Words>1207</Words>
  <Application>Microsoft Office PowerPoint</Application>
  <PresentationFormat>On-screen Show (4:3)</PresentationFormat>
  <Paragraphs>141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Open Sans</vt:lpstr>
      <vt:lpstr>Times New Roman</vt:lpstr>
      <vt:lpstr>Office Theme</vt:lpstr>
      <vt:lpstr>PowerPoint Presentation</vt:lpstr>
      <vt:lpstr>PROBLEM STATEMENT</vt:lpstr>
      <vt:lpstr>INTRODUCTION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Screenshots of the project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Dell'</dc:creator>
  <cp:lastModifiedBy>saumya dhorje</cp:lastModifiedBy>
  <cp:revision>107</cp:revision>
  <dcterms:created xsi:type="dcterms:W3CDTF">2025-02-26T11:06:00Z</dcterms:created>
  <dcterms:modified xsi:type="dcterms:W3CDTF">2026-05-17T12:57:05Z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18FE7E346F40407F9F53C28E5E18D606_12</vt:lpwstr>
  </property>
  <property fmtid="{D5CDD505-2E9C-101B-9397-08002B2CF9AE}" pid="3" name="KSOProductBuildVer">
    <vt:lpwstr>2057-12.2.0.19821</vt:lpwstr>
  </property>
</Properties>
</file>